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6355" autoAdjust="0"/>
  </p:normalViewPr>
  <p:slideViewPr>
    <p:cSldViewPr snapToGrid="0">
      <p:cViewPr varScale="1">
        <p:scale>
          <a:sx n="63" d="100"/>
          <a:sy n="63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2D036-D2A3-44FD-8221-A68FB6DC93AA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04877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7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2E24D-362D-47B3-91F5-1AD00838A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3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2E24D-362D-47B3-91F5-1AD00838AF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35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2E24D-362D-47B3-91F5-1AD00838AF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4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82E24D-362D-47B3-91F5-1AD00838AF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76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FC01-FAFB-43C9-ABF9-F912E9A6CC9D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9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A199-BD88-456A-9BA2-7F04957F55E2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18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3FC8-8729-4828-8B87-ABEBF264463A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2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52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53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31F28-4593-4E61-94BE-D7ECAEFB681A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24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5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2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7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2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14E3-1C81-468D-8409-494F1DAB17ED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2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3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3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CB54-5F56-4F0E-AB8B-774955289F66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4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8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787C-EA93-4362-9A6D-41CAF08EF629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34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56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57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4722-A23E-4475-977D-A00EE36E867E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6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0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48706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9EE9-BE05-4211-9386-50443697E053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4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E91F-0F6A-4CCC-9587-7AE7FD969500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46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4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9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7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384E-1F92-4536-B895-1362F259E151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0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48702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703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37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487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CCA1-3565-4CD0-849B-3DA9FA72BCB1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40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4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8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8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486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1A52-00C3-44E3-BBE9-0891ABFB9451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9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9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48693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94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4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0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4875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9DF1-7038-415E-B5F1-83230F7F8767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5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53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5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1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74D7-3C2E-4E24-B349-EE2A87D1D1EA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15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6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C74A0-48C4-462D-878C-7370454373AB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7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6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048576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7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8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9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0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1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2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3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4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5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6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7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4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048588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89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0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1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2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3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4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5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6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7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8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9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048600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01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02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CB4DB-CFDB-44A6-A1E2-8A22D3759A46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1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3"/>
          <p:cNvSpPr>
            <a:spLocks noGrp="1"/>
          </p:cNvSpPr>
          <p:nvPr>
            <p:ph type="title"/>
          </p:nvPr>
        </p:nvSpPr>
        <p:spPr>
          <a:xfrm>
            <a:off x="1506827" y="1184856"/>
            <a:ext cx="9916732" cy="2202287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PROJECT </a:t>
            </a:r>
            <a:r>
              <a:rPr lang="en-US" sz="1600" b="1" dirty="0" smtClean="0">
                <a:solidFill>
                  <a:schemeClr val="tx1"/>
                </a:solidFill>
                <a:cs typeface="Arial" panose="020B0604020202020204" pitchFamily="34" charset="0"/>
              </a:rPr>
              <a:t>DEFENSE</a:t>
            </a: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/>
            </a:r>
            <a:b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600" b="1" dirty="0" smtClean="0">
                <a:solidFill>
                  <a:schemeClr val="tx1"/>
                </a:solidFill>
                <a:cs typeface="Arial" panose="020B0604020202020204" pitchFamily="34" charset="0"/>
              </a:rPr>
              <a:t>ON</a:t>
            </a:r>
            <a:r>
              <a:rPr lang="en-GB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GB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DESIGN OPTIMIZATION OF MILITARY UNMANNED AERIAL VEHICLE RQ-20 PUMA</a:t>
            </a:r>
            <a:br>
              <a:rPr lang="en-GB" sz="1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TO </a:t>
            </a:r>
            <a:b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DEPARTMENT OF AERONAUTICAL &amp; ASTRONAUTICAL ENGINEERING</a:t>
            </a:r>
            <a:b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FACULTY OF ENGINEERING AND TECHNOLOGY</a:t>
            </a:r>
            <a:b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BY</a:t>
            </a:r>
            <a:b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48613" name="Content Placeholder 4"/>
          <p:cNvSpPr>
            <a:spLocks noGrp="1"/>
          </p:cNvSpPr>
          <p:nvPr>
            <p:ph idx="1"/>
          </p:nvPr>
        </p:nvSpPr>
        <p:spPr>
          <a:xfrm>
            <a:off x="3712332" y="4595612"/>
            <a:ext cx="5962919" cy="356100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dirty="0" smtClean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cs typeface="Times New Roman" panose="02020603050405020304" pitchFamily="18" charset="0"/>
              </a:rPr>
              <a:t>GIWA ABDULWAHAB </a:t>
            </a:r>
            <a:r>
              <a:rPr lang="en-US" sz="1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FUNSHO				16/67aa/075</a:t>
            </a:r>
            <a:endParaRPr lang="en-US" sz="1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Supervisor</a:t>
            </a:r>
            <a:r>
              <a:rPr lang="en-US" sz="1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: Engr. Abdulbaqi Jinadu</a:t>
            </a:r>
          </a:p>
          <a:p>
            <a:pPr marL="0" indent="0" algn="ctr">
              <a:buNone/>
            </a:pPr>
            <a:r>
              <a:rPr lang="en-US" sz="14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September 2022</a:t>
            </a:r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900" y="260216"/>
            <a:ext cx="1188585" cy="92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1738648" y="624110"/>
            <a:ext cx="8589575" cy="128089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INTRODUCTION</a:t>
            </a:r>
            <a:endParaRPr lang="en-US" dirty="0"/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1843791" y="1669960"/>
            <a:ext cx="8319540" cy="4331595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Military Unmanned </a:t>
            </a:r>
            <a:r>
              <a:rPr lang="en-US" sz="2400" b="1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Aerial Vehicle </a:t>
            </a:r>
            <a:r>
              <a:rPr lang="en-US" sz="2400" b="1" dirty="0" smtClean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dirty="0" smtClean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</a:t>
            </a:r>
            <a:r>
              <a:rPr lang="en-US" sz="2400" b="1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is an aircraft designed not to carry an aircrew for execution of its </a:t>
            </a:r>
            <a:r>
              <a:rPr lang="en-US" sz="2400" b="1" dirty="0" smtClean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mission. It is widely use in military for aerial battle, </a:t>
            </a:r>
            <a:r>
              <a:rPr lang="en-US" sz="2400" b="1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reconnaissance and  surveillance.</a:t>
            </a:r>
            <a:endParaRPr lang="en-US" sz="24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RQ-20 </a:t>
            </a: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Puma is an all-environment, hand-launched reconnaissance and surveillance unmanned area </a:t>
            </a:r>
            <a:r>
              <a:rPr lang="en-US" sz="2400" b="1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vehicle. I</a:t>
            </a: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t provides operational capability in the following </a:t>
            </a:r>
            <a:r>
              <a:rPr lang="en-US" sz="2400" b="1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areas: Remote </a:t>
            </a:r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reconnaissance and surveillance, Force protection, Convoy security, Target acquisition and Battle damage assessment</a:t>
            </a:r>
            <a:r>
              <a:rPr lang="en-US" b="1" dirty="0">
                <a:latin typeface="Garamond" panose="02020404030301010803" pitchFamily="18" charset="0"/>
                <a:cs typeface="Times New Roman" panose="02020603050405020304" pitchFamily="18" charset="0"/>
              </a:rPr>
              <a:t>. </a:t>
            </a:r>
            <a:endParaRPr lang="zh-CN" altLang="en-US" dirty="0"/>
          </a:p>
          <a:p>
            <a:pPr algn="just">
              <a:lnSpc>
                <a:spcPct val="150000"/>
              </a:lnSpc>
            </a:pPr>
            <a:endParaRPr lang="en-US" b="1" dirty="0">
              <a:latin typeface="Garamond" panose="02020404030301010803" pitchFamily="18" charset="0"/>
            </a:endParaRPr>
          </a:p>
        </p:txBody>
      </p:sp>
      <p:sp>
        <p:nvSpPr>
          <p:cNvPr id="10486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2475915" y="657070"/>
            <a:ext cx="7132780" cy="99167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>
          <a:xfrm>
            <a:off x="2164209" y="1648743"/>
            <a:ext cx="8134034" cy="4726545"/>
          </a:xfrm>
        </p:spPr>
        <p:txBody>
          <a:bodyPr anchor="t" anchorCtr="1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smtClean="0">
                <a:latin typeface="Garamond" panose="02020404030301010803" pitchFamily="18" charset="0"/>
              </a:rPr>
              <a:t>It is observed that RQ-20 </a:t>
            </a:r>
            <a:r>
              <a:rPr lang="en-US" sz="2400" b="1" dirty="0">
                <a:latin typeface="Garamond" panose="02020404030301010803" pitchFamily="18" charset="0"/>
              </a:rPr>
              <a:t>PUMA being b</a:t>
            </a:r>
            <a:r>
              <a:rPr lang="en-US" sz="2400" b="1" dirty="0" smtClean="0">
                <a:latin typeface="Garamond" panose="02020404030301010803" pitchFamily="18" charset="0"/>
              </a:rPr>
              <a:t>elly a landing UAV, sustains </a:t>
            </a:r>
            <a:r>
              <a:rPr lang="en-US" sz="2400" b="1" dirty="0">
                <a:latin typeface="Garamond" panose="02020404030301010803" pitchFamily="18" charset="0"/>
              </a:rPr>
              <a:t>substantial damage to its </a:t>
            </a:r>
            <a:r>
              <a:rPr lang="en-US" sz="2400" b="1" dirty="0" smtClean="0">
                <a:latin typeface="Garamond" panose="02020404030301010803" pitchFamily="18" charset="0"/>
              </a:rPr>
              <a:t>fuselage </a:t>
            </a:r>
            <a:r>
              <a:rPr lang="en-US" sz="2400" b="1" dirty="0">
                <a:latin typeface="Garamond" panose="02020404030301010803" pitchFamily="18" charset="0"/>
              </a:rPr>
              <a:t>due to the </a:t>
            </a:r>
            <a:r>
              <a:rPr lang="en-US" sz="2400" b="1" dirty="0" smtClean="0">
                <a:latin typeface="Garamond" panose="02020404030301010803" pitchFamily="18" charset="0"/>
              </a:rPr>
              <a:t>absence </a:t>
            </a:r>
            <a:r>
              <a:rPr lang="en-US" sz="2400" b="1" dirty="0">
                <a:latin typeface="Garamond" panose="02020404030301010803" pitchFamily="18" charset="0"/>
              </a:rPr>
              <a:t>of </a:t>
            </a:r>
            <a:r>
              <a:rPr lang="en-US" sz="2400" b="1" dirty="0" smtClean="0">
                <a:latin typeface="Garamond" panose="02020404030301010803" pitchFamily="18" charset="0"/>
              </a:rPr>
              <a:t> </a:t>
            </a:r>
            <a:r>
              <a:rPr lang="en-US" sz="2400" b="1" dirty="0">
                <a:latin typeface="Garamond" panose="02020404030301010803" pitchFamily="18" charset="0"/>
              </a:rPr>
              <a:t>landing gear </a:t>
            </a:r>
            <a:r>
              <a:rPr lang="en-US" sz="2400" b="1" dirty="0" smtClean="0">
                <a:latin typeface="Garamond" panose="02020404030301010803" pitchFamily="18" charset="0"/>
              </a:rPr>
              <a:t>to </a:t>
            </a:r>
            <a:r>
              <a:rPr lang="en-US" sz="2400" b="1" dirty="0">
                <a:latin typeface="Garamond" panose="02020404030301010803" pitchFamily="18" charset="0"/>
              </a:rPr>
              <a:t>protect the </a:t>
            </a:r>
            <a:r>
              <a:rPr lang="en-US" sz="2400" b="1" dirty="0" smtClean="0">
                <a:latin typeface="Garamond" panose="02020404030301010803" pitchFamily="18" charset="0"/>
              </a:rPr>
              <a:t>UAV fuselage during landing. </a:t>
            </a:r>
            <a:endParaRPr lang="en-US" sz="24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1463041" y="787782"/>
            <a:ext cx="8876714" cy="103031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1693889" y="1618939"/>
            <a:ext cx="8645866" cy="49617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 smtClean="0">
                <a:latin typeface="Garamond" panose="02020404030301010803" pitchFamily="18" charset="0"/>
              </a:rPr>
              <a:t>To </a:t>
            </a:r>
            <a:r>
              <a:rPr lang="en-US" sz="2000" b="1" dirty="0">
                <a:latin typeface="Garamond" panose="02020404030301010803" pitchFamily="18" charset="0"/>
              </a:rPr>
              <a:t>optimize the design by integrating a fixed landing gear and </a:t>
            </a:r>
            <a:r>
              <a:rPr lang="en-US" sz="2000" b="1" dirty="0" smtClean="0">
                <a:latin typeface="Garamond" panose="02020404030301010803" pitchFamily="18" charset="0"/>
              </a:rPr>
              <a:t>design an </a:t>
            </a:r>
            <a:r>
              <a:rPr lang="en-US" sz="2000" b="1" dirty="0">
                <a:latin typeface="Garamond" panose="02020404030301010803" pitchFamily="18" charset="0"/>
              </a:rPr>
              <a:t>unmanned aerial vehicle, RQ-20 PUMA to perform horizontal takeoff and landing on the runway to prevent the aircraft from belly landing and protect it from structural damage.</a:t>
            </a:r>
            <a:endParaRPr lang="zh-CN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 smtClean="0">
                <a:latin typeface="Garamond" panose="02020404030301010803" pitchFamily="18" charset="0"/>
              </a:rPr>
              <a:t>The </a:t>
            </a:r>
            <a:r>
              <a:rPr lang="en-US" sz="2000" b="1" dirty="0">
                <a:latin typeface="Garamond" panose="02020404030301010803" pitchFamily="18" charset="0"/>
              </a:rPr>
              <a:t>UAV will be built to achieve the following criteria: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 smtClean="0">
                <a:latin typeface="Garamond" panose="02020404030301010803" pitchFamily="18" charset="0"/>
              </a:rPr>
              <a:t>To design of the </a:t>
            </a:r>
            <a:r>
              <a:rPr lang="en-US" sz="2000" b="1" dirty="0">
                <a:latin typeface="Garamond" panose="02020404030301010803" pitchFamily="18" charset="0"/>
              </a:rPr>
              <a:t>RQ-20 PUMA </a:t>
            </a:r>
            <a:r>
              <a:rPr lang="en-US" sz="2000" b="1" dirty="0" smtClean="0">
                <a:latin typeface="Garamond" panose="02020404030301010803" pitchFamily="18" charset="0"/>
              </a:rPr>
              <a:t>by </a:t>
            </a:r>
            <a:r>
              <a:rPr lang="en-US" sz="2000" b="1" dirty="0">
                <a:latin typeface="Garamond" panose="02020404030301010803" pitchFamily="18" charset="0"/>
              </a:rPr>
              <a:t>integrating a fixed landing </a:t>
            </a:r>
            <a:r>
              <a:rPr lang="en-US" sz="2000" b="1" dirty="0" smtClean="0">
                <a:latin typeface="Garamond" panose="02020404030301010803" pitchFamily="18" charset="0"/>
              </a:rPr>
              <a:t>gear</a:t>
            </a:r>
            <a:endParaRPr lang="zh-CN" altLang="en-US" dirty="0"/>
          </a:p>
          <a:p>
            <a:pPr lvl="0" algn="just">
              <a:lnSpc>
                <a:spcPct val="150000"/>
              </a:lnSpc>
            </a:pPr>
            <a:r>
              <a:rPr lang="en-US" sz="2000" b="1" dirty="0" smtClean="0">
                <a:latin typeface="Garamond" panose="02020404030301010803" pitchFamily="18" charset="0"/>
              </a:rPr>
              <a:t>Upgrading the UAV's takeoff mode</a:t>
            </a:r>
            <a:endParaRPr lang="zh-CN" altLang="en-US" dirty="0"/>
          </a:p>
          <a:p>
            <a:pPr lvl="0" algn="just">
              <a:lnSpc>
                <a:spcPct val="150000"/>
              </a:lnSpc>
            </a:pPr>
            <a:r>
              <a:rPr lang="en-US" sz="2000" b="1" dirty="0" smtClean="0">
                <a:latin typeface="Garamond" panose="02020404030301010803" pitchFamily="18" charset="0"/>
              </a:rPr>
              <a:t>Increase the UAV's efficiency</a:t>
            </a:r>
            <a:endParaRPr lang="en-US" sz="2000" b="1" dirty="0">
              <a:latin typeface="Garamond" panose="02020404030301010803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rgbClr val="C00000"/>
              </a:solidFill>
              <a:latin typeface="Garamond" panose="02020404030301010803" pitchFamily="18" charset="0"/>
              <a:ea typeface="Yu Gothic UI Semilight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1768839" y="787782"/>
            <a:ext cx="8804223" cy="128089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PROJECT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7" name="Content Placeholder 2"/>
          <p:cNvSpPr>
            <a:spLocks noGrp="1"/>
          </p:cNvSpPr>
          <p:nvPr>
            <p:ph idx="1"/>
          </p:nvPr>
        </p:nvSpPr>
        <p:spPr>
          <a:xfrm>
            <a:off x="1768839" y="1499309"/>
            <a:ext cx="8804223" cy="5252154"/>
          </a:xfrm>
        </p:spPr>
        <p:txBody>
          <a:bodyPr anchor="t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b="1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The design optimization of the military UAV, RQ-20 puma is vital because it helps in preventing substantial damages of the UAV's structure and reduce the maintenance costs. </a:t>
            </a:r>
            <a:endParaRPr lang="en-US" sz="24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1828800" y="583978"/>
            <a:ext cx="8469443" cy="7727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599396"/>
              </p:ext>
            </p:extLst>
          </p:nvPr>
        </p:nvGraphicFramePr>
        <p:xfrm>
          <a:off x="1803042" y="1466355"/>
          <a:ext cx="8525813" cy="4992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6949"/>
                <a:gridCol w="2989472"/>
                <a:gridCol w="2979392"/>
              </a:tblGrid>
              <a:tr h="87671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Title/Year </a:t>
                      </a:r>
                    </a:p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dirty="0" smtClean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dirty="0" smtClean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r>
                        <a:rPr lang="en-US" sz="1800" baseline="0" dirty="0" smtClean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Result </a:t>
                      </a:r>
                      <a:endParaRPr lang="en-US" sz="1800" dirty="0" smtClean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226483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Design, fabrication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performance analysis of UAV (2016)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M.I. Khan, M.A.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Salam, &amp;  T. Mahmud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conceptual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design of UAV process goes step by step which gives brief over view of how the industry works in designing the UAV with requirement captured.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02744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Design, manufacturing, and flight testing of an experimental flying wing UAV (2019) 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Pei-Hsiang Chung, Der-Ming Ma, Jaw-Kuen Shiau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design, manufacturing, and flight testing of an electric-powered experimental flying wing unmanned aerial vehicle (UAV).</a:t>
                      </a:r>
                    </a:p>
                  </a:txBody>
                  <a:tcPr/>
                </a:tc>
              </a:tr>
              <a:tr h="140274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performance analyses of a fixed wing battery VTOL UAV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Özgür Dündar, Mesut Bilici, Tarık Ünler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wing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 without multi-rotor system with four propellers have much more endurance compared to VTOL-FW concept. 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30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6536085" cy="128089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>
          <a:xfrm>
            <a:off x="1528996" y="1385363"/>
            <a:ext cx="9188971" cy="52028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sz="2000" b="1" dirty="0" smtClean="0">
              <a:latin typeface="Garamond" panose="020204040303010108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>
                <a:latin typeface="Garamond" panose="02020404030301010803" pitchFamily="18" charset="0"/>
              </a:rPr>
              <a:t>Data collection</a:t>
            </a:r>
            <a:endParaRPr lang="en-GB" sz="2000" b="1" dirty="0">
              <a:latin typeface="Garamond" panose="020204040303010108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>
                <a:latin typeface="Garamond" panose="02020404030301010803" pitchFamily="18" charset="0"/>
              </a:rPr>
              <a:t>Design selection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>
                <a:latin typeface="Garamond" panose="02020404030301010803" pitchFamily="18" charset="0"/>
              </a:rPr>
              <a:t>Component used</a:t>
            </a:r>
            <a:endParaRPr lang="en-GB" sz="2000" b="1" dirty="0">
              <a:latin typeface="Garamond" panose="020204040303010108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>
                <a:latin typeface="Garamond" panose="02020404030301010803" pitchFamily="18" charset="0"/>
              </a:rPr>
              <a:t>Data analysis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000" b="1" dirty="0">
              <a:latin typeface="Garamond" panose="020204040303010108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>
                <a:latin typeface="Garamond" panose="02020404030301010803" pitchFamily="18" charset="0"/>
              </a:rPr>
              <a:t>									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latin typeface="Garamond" panose="02020404030301010803" pitchFamily="18" charset="0"/>
              </a:rPr>
              <a:t>	</a:t>
            </a:r>
            <a:r>
              <a:rPr lang="en-GB" sz="2000" b="1" dirty="0" smtClean="0">
                <a:latin typeface="Garamond" panose="02020404030301010803" pitchFamily="18" charset="0"/>
              </a:rPr>
              <a:t>				specification of prototype</a:t>
            </a:r>
            <a:r>
              <a:rPr lang="en-US" sz="2000" b="1" dirty="0" smtClean="0">
                <a:latin typeface="Garamond" panose="02020404030301010803" pitchFamily="18" charset="0"/>
              </a:rPr>
              <a:t>                   </a:t>
            </a:r>
            <a:r>
              <a:rPr lang="en-GB" sz="2000" b="1" dirty="0" smtClean="0">
                <a:latin typeface="Garamond" panose="02020404030301010803" pitchFamily="18" charset="0"/>
              </a:rPr>
              <a:t> prototype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 dirty="0"/>
          </a:p>
        </p:txBody>
      </p:sp>
      <p:pic>
        <p:nvPicPr>
          <p:cNvPr id="2097153" name="Picture 5" descr="C:\Users\CM\Downloads\WhatsApp Image 2022-07-16 at 12.48.51 PM.jpeg"/>
          <p:cNvPicPr>
            <a:picLocks/>
          </p:cNvPicPr>
          <p:nvPr/>
        </p:nvPicPr>
        <p:blipFill rotWithShape="1">
          <a:blip r:embed="rId2"/>
          <a:srcRect l="57864" t="27548" r="1540" b="38429"/>
          <a:stretch>
            <a:fillRect/>
          </a:stretch>
        </p:blipFill>
        <p:spPr bwMode="auto">
          <a:xfrm>
            <a:off x="6835515" y="1905000"/>
            <a:ext cx="3702571" cy="36863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94305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952190"/>
              </p:ext>
            </p:extLst>
          </p:nvPr>
        </p:nvGraphicFramePr>
        <p:xfrm>
          <a:off x="3792512" y="2148090"/>
          <a:ext cx="3013022" cy="326906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43593"/>
                <a:gridCol w="869429"/>
              </a:tblGrid>
              <a:tr h="53763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Specification</a:t>
                      </a:r>
                      <a:r>
                        <a:rPr lang="en-US" b="1" baseline="0" dirty="0" smtClean="0">
                          <a:solidFill>
                            <a:srgbClr val="C00000"/>
                          </a:solidFill>
                        </a:rPr>
                        <a:t>  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value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555046">
                <a:tc>
                  <a:txBody>
                    <a:bodyPr/>
                    <a:lstStyle/>
                    <a:p>
                      <a:r>
                        <a:rPr lang="en-US" dirty="0" smtClean="0"/>
                        <a:t>Wing span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9.2</a:t>
                      </a:r>
                      <a:r>
                        <a:rPr lang="en-US" baseline="0" dirty="0" smtClean="0"/>
                        <a:t> ft</a:t>
                      </a:r>
                      <a:endParaRPr lang="en-US" dirty="0"/>
                    </a:p>
                  </a:txBody>
                  <a:tcPr/>
                </a:tc>
              </a:tr>
              <a:tr h="603854">
                <a:tc>
                  <a:txBody>
                    <a:bodyPr/>
                    <a:lstStyle/>
                    <a:p>
                      <a:r>
                        <a:rPr lang="en-US" dirty="0" smtClean="0"/>
                        <a:t>Fuselage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ft</a:t>
                      </a:r>
                      <a:endParaRPr lang="en-US" dirty="0"/>
                    </a:p>
                  </a:txBody>
                  <a:tcPr/>
                </a:tc>
              </a:tr>
              <a:tr h="555046">
                <a:tc>
                  <a:txBody>
                    <a:bodyPr/>
                    <a:lstStyle/>
                    <a:p>
                      <a:r>
                        <a:rPr lang="en-US" dirty="0" smtClean="0"/>
                        <a:t>Altitude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 ft</a:t>
                      </a:r>
                      <a:endParaRPr lang="en-US" dirty="0"/>
                    </a:p>
                  </a:txBody>
                  <a:tcPr/>
                </a:tc>
              </a:tr>
              <a:tr h="651724">
                <a:tc>
                  <a:txBody>
                    <a:bodyPr/>
                    <a:lstStyle/>
                    <a:p>
                      <a:r>
                        <a:rPr lang="en-US" dirty="0" smtClean="0"/>
                        <a:t>endurance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120 mins</a:t>
                      </a:r>
                      <a:endParaRPr lang="en-US" dirty="0"/>
                    </a:p>
                  </a:txBody>
                  <a:tcPr/>
                </a:tc>
              </a:tr>
              <a:tr h="345060">
                <a:tc>
                  <a:txBody>
                    <a:bodyPr/>
                    <a:lstStyle/>
                    <a:p>
                      <a:r>
                        <a:rPr lang="en-US" dirty="0" smtClean="0"/>
                        <a:t>Range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 km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Down Arrow 8"/>
          <p:cNvSpPr/>
          <p:nvPr/>
        </p:nvSpPr>
        <p:spPr>
          <a:xfrm>
            <a:off x="2236009" y="2454440"/>
            <a:ext cx="484632" cy="3559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2236009" y="3013024"/>
            <a:ext cx="484632" cy="3647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2258420" y="3595899"/>
            <a:ext cx="484632" cy="390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1493949" y="115910"/>
            <a:ext cx="8744755" cy="6651938"/>
          </a:xfrm>
        </p:spPr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4194306" name="Table 6"/>
          <p:cNvGraphicFramePr>
            <a:graphicFrameLocks noGrp="1"/>
          </p:cNvGraphicFramePr>
          <p:nvPr/>
        </p:nvGraphicFramePr>
        <p:xfrm>
          <a:off x="1957589" y="412123"/>
          <a:ext cx="3747752" cy="3953812"/>
        </p:xfrm>
        <a:graphic>
          <a:graphicData uri="http://schemas.openxmlformats.org/drawingml/2006/table">
            <a:tbl>
              <a:tblPr firstRow="1" firstCol="1" bandRow="1"/>
              <a:tblGrid>
                <a:gridCol w="2484199"/>
                <a:gridCol w="1263553"/>
              </a:tblGrid>
              <a:tr h="2456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Specification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Values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Wing</a:t>
                      </a:r>
                      <a:r>
                        <a:rPr lang="en-GB" sz="140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span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1.3</a:t>
                      </a:r>
                      <a:r>
                        <a:rPr lang="en-GB" sz="140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Fuselage length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0.644m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propeller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9</a:t>
                      </a:r>
                      <a:r>
                        <a:rPr lang="en-US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inches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Endurance</a:t>
                      </a:r>
                      <a:endParaRPr lang="en-US" sz="14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15mins</a:t>
                      </a:r>
                      <a:endParaRPr lang="en-US" sz="14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Battery capacity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1200mah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Payload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200g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Range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800m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No. of Engines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97154" name="Picture 5" descr="C:\Users\lum\Pictures\Screenshots\Screenshot (2).pn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22771" y="412123"/>
            <a:ext cx="4056845" cy="3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9" name="Rectangle 7"/>
          <p:cNvSpPr/>
          <p:nvPr/>
        </p:nvSpPr>
        <p:spPr>
          <a:xfrm>
            <a:off x="1017431" y="4462827"/>
            <a:ext cx="10528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/>
              <a:t>		 current </a:t>
            </a:r>
            <a:r>
              <a:rPr lang="en-US" dirty="0"/>
              <a:t>design </a:t>
            </a:r>
            <a:r>
              <a:rPr lang="en-US" dirty="0" smtClean="0"/>
              <a:t>specification table 		                   prototype </a:t>
            </a:r>
            <a:r>
              <a:rPr lang="en-US" dirty="0"/>
              <a:t>2D Design 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1506829" y="1584101"/>
            <a:ext cx="9937103" cy="4559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cs typeface="Arial" panose="020B0604020202020204" pitchFamily="34" charset="0"/>
              </a:rPr>
              <a:t>    Figure A. 3-D model of the RQ-20 puma	    Figure B. 3-D model of the present study</a:t>
            </a:r>
            <a:endParaRPr lang="zh-CN" altLang="en-US" dirty="0"/>
          </a:p>
          <a:p>
            <a:endParaRPr lang="en-US" b="1" dirty="0" smtClean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endParaRPr lang="en-US" b="1" dirty="0">
              <a:solidFill>
                <a:schemeClr val="accent3">
                  <a:lumMod val="50000"/>
                </a:schemeClr>
              </a:solidFill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0486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2097155" name="Picture 6"/>
          <p:cNvPicPr>
            <a:picLocks/>
          </p:cNvPicPr>
          <p:nvPr/>
        </p:nvPicPr>
        <p:blipFill rotWithShape="1">
          <a:blip r:embed="rId2"/>
          <a:srcRect l="31813" t="8869" r="24525" b="9629"/>
          <a:stretch>
            <a:fillRect/>
          </a:stretch>
        </p:blipFill>
        <p:spPr bwMode="auto">
          <a:xfrm>
            <a:off x="6475380" y="1894490"/>
            <a:ext cx="4968552" cy="3335628"/>
          </a:xfrm>
          <a:prstGeom prst="rect">
            <a:avLst/>
          </a:prstGeom>
          <a:ln>
            <a:noFill/>
          </a:ln>
        </p:spPr>
      </p:pic>
      <p:pic>
        <p:nvPicPr>
          <p:cNvPr id="2097156" name="Picture 12"/>
          <p:cNvPicPr>
            <a:picLocks/>
          </p:cNvPicPr>
          <p:nvPr/>
        </p:nvPicPr>
        <p:blipFill rotWithShape="1">
          <a:blip r:embed="rId3"/>
          <a:srcRect l="25456" r="22511"/>
          <a:stretch>
            <a:fillRect/>
          </a:stretch>
        </p:blipFill>
        <p:spPr bwMode="auto">
          <a:xfrm>
            <a:off x="1843439" y="1831439"/>
            <a:ext cx="4295331" cy="339867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Content Placeholder 2"/>
          <p:cNvSpPr>
            <a:spLocks noGrp="1"/>
          </p:cNvSpPr>
          <p:nvPr>
            <p:ph idx="1"/>
          </p:nvPr>
        </p:nvSpPr>
        <p:spPr>
          <a:xfrm>
            <a:off x="1285998" y="1764406"/>
            <a:ext cx="9740206" cy="50935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 smtClean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endParaRPr lang="en-US" sz="2800" b="1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endParaRPr lang="en-US" sz="2800" b="1" dirty="0" smtClean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endParaRPr lang="en-US" sz="2800" b="1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endParaRPr lang="en-US" sz="2800" b="1" dirty="0" smtClean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Garamond" panose="02020404030301010803" pitchFamily="18" charset="0"/>
              </a:rPr>
              <a:t>           (a)RQ-20 puma Tetrahedral meshing 		(b)Tetrahedral meshing of the present study</a:t>
            </a:r>
            <a:endParaRPr lang="en-US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2097157" name="Picture 4" descr="C:\Users\lum\Desktop\my  project\RESULT\NOLG\MESHNLG.JPG"/>
          <p:cNvPicPr>
            <a:picLocks/>
          </p:cNvPicPr>
          <p:nvPr/>
        </p:nvPicPr>
        <p:blipFill rotWithShape="1">
          <a:blip r:embed="rId2"/>
          <a:srcRect t="13967"/>
          <a:stretch>
            <a:fillRect/>
          </a:stretch>
        </p:blipFill>
        <p:spPr bwMode="auto">
          <a:xfrm>
            <a:off x="1622738" y="1764406"/>
            <a:ext cx="4559121" cy="3129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8" name="Picture 5" descr="C:\Users\lum\Desktop\my  project\RESULT\MESH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6724" y="1764406"/>
            <a:ext cx="4533363" cy="3129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1311579" y="5833904"/>
            <a:ext cx="3964959" cy="869839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igure A. Stress distribution on the present study</a:t>
            </a:r>
            <a:endParaRPr lang="en-US" sz="2000" dirty="0"/>
          </a:p>
        </p:txBody>
      </p:sp>
      <p:pic>
        <p:nvPicPr>
          <p:cNvPr id="2097159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972" t="-2312" r="-1972" b="11849"/>
          <a:stretch>
            <a:fillRect/>
          </a:stretch>
        </p:blipFill>
        <p:spPr>
          <a:xfrm>
            <a:off x="1311579" y="1585894"/>
            <a:ext cx="4571999" cy="4248010"/>
          </a:xfrm>
          <a:prstGeom prst="rect">
            <a:avLst/>
          </a:prstGeom>
        </p:spPr>
      </p:pic>
      <p:sp>
        <p:nvSpPr>
          <p:cNvPr id="10486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2097160" name="Picture 6"/>
          <p:cNvPicPr>
            <a:picLocks noChangeAspect="1"/>
          </p:cNvPicPr>
          <p:nvPr/>
        </p:nvPicPr>
        <p:blipFill rotWithShape="1">
          <a:blip r:embed="rId4"/>
          <a:srcRect b="8759"/>
          <a:stretch>
            <a:fillRect/>
          </a:stretch>
        </p:blipFill>
        <p:spPr>
          <a:xfrm>
            <a:off x="6051906" y="1585894"/>
            <a:ext cx="5033629" cy="429295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748792" y="656483"/>
            <a:ext cx="9661221" cy="8698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US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37749" y="5833905"/>
            <a:ext cx="4661942" cy="8698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distribution on </a:t>
            </a:r>
            <a:r>
              <a:rPr lang="en-US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RQ-20 Puma</a:t>
            </a:r>
            <a:endParaRPr lang="en-US" sz="20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2047741" y="624110"/>
            <a:ext cx="86030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9" name="Content Placeholder 10"/>
          <p:cNvSpPr>
            <a:spLocks noGrp="1"/>
          </p:cNvSpPr>
          <p:nvPr>
            <p:ph sz="half" idx="2"/>
          </p:nvPr>
        </p:nvSpPr>
        <p:spPr>
          <a:xfrm>
            <a:off x="1906073" y="1596980"/>
            <a:ext cx="9259910" cy="4803820"/>
          </a:xfrm>
        </p:spPr>
        <p:txBody>
          <a:bodyPr/>
          <a:lstStyle/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4194307" name="Object 12"/>
          <p:cNvGraphicFramePr>
            <a:graphicFrameLocks noChangeAspect="1"/>
          </p:cNvGraphicFramePr>
          <p:nvPr/>
        </p:nvGraphicFramePr>
        <p:xfrm>
          <a:off x="2047741" y="1596980"/>
          <a:ext cx="8603088" cy="4713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Document" r:id="rId4" imgW="6526297" imgH="2907202" progId="Word.Document.12">
                  <p:embed/>
                </p:oleObj>
              </mc:Choice>
              <mc:Fallback>
                <p:oleObj name="Document" r:id="rId4" imgW="6526297" imgH="2907202" progId="Word.Document.12">
                  <p:embed/>
                  <p:pic>
                    <p:nvPicPr>
                      <p:cNvPr id="2097161" name=""/>
                      <p:cNvPicPr>
                        <a:picLocks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7741" y="1596980"/>
                        <a:ext cx="8603088" cy="4713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1708879" y="787782"/>
            <a:ext cx="8724275" cy="128089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Garamond" panose="02020404030301010803" pitchFamily="18" charset="0"/>
              </a:rPr>
              <a:t>CONCLUSION</a:t>
            </a:r>
            <a:endParaRPr lang="en-US" b="1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>
          <a:xfrm>
            <a:off x="1708879" y="1746700"/>
            <a:ext cx="8724275" cy="41518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 smtClean="0">
                <a:latin typeface="Garamond" panose="02020404030301010803" pitchFamily="18" charset="0"/>
              </a:rPr>
              <a:t>The </a:t>
            </a:r>
            <a:r>
              <a:rPr lang="en-US" sz="2000" b="1" dirty="0">
                <a:latin typeface="Garamond" panose="02020404030301010803" pitchFamily="18" charset="0"/>
              </a:rPr>
              <a:t>present study has the maximum stress impact at the landing gear strut during landing, and it has minimum impact at the </a:t>
            </a:r>
            <a:r>
              <a:rPr lang="en-US" sz="2000" b="1" dirty="0" smtClean="0">
                <a:latin typeface="Garamond" panose="02020404030301010803" pitchFamily="18" charset="0"/>
              </a:rPr>
              <a:t>fuselage. </a:t>
            </a:r>
            <a:r>
              <a:rPr lang="en-US" sz="2000" b="1" dirty="0">
                <a:latin typeface="Garamond" panose="02020404030301010803" pitchFamily="18" charset="0"/>
              </a:rPr>
              <a:t>Comparatively, </a:t>
            </a:r>
            <a:r>
              <a:rPr lang="en-US" sz="2000" b="1" dirty="0" smtClean="0">
                <a:latin typeface="Garamond" panose="02020404030301010803" pitchFamily="18" charset="0"/>
              </a:rPr>
              <a:t>RQ-20 </a:t>
            </a:r>
            <a:r>
              <a:rPr lang="en-US" sz="2000" b="1" dirty="0">
                <a:latin typeface="Garamond" panose="02020404030301010803" pitchFamily="18" charset="0"/>
              </a:rPr>
              <a:t>puma UAV has the maximum </a:t>
            </a:r>
            <a:r>
              <a:rPr lang="en-US" sz="2000" b="1" dirty="0" smtClean="0">
                <a:latin typeface="Garamond" panose="02020404030301010803" pitchFamily="18" charset="0"/>
              </a:rPr>
              <a:t>stress impact at </a:t>
            </a:r>
            <a:r>
              <a:rPr lang="en-US" sz="2000" b="1" dirty="0">
                <a:latin typeface="Garamond" panose="02020404030301010803" pitchFamily="18" charset="0"/>
              </a:rPr>
              <a:t>the rear section of the </a:t>
            </a:r>
            <a:r>
              <a:rPr lang="en-US" sz="2000" b="1" dirty="0" smtClean="0">
                <a:latin typeface="Garamond" panose="02020404030301010803" pitchFamily="18" charset="0"/>
              </a:rPr>
              <a:t>fuselage. 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2215726" y="624110"/>
            <a:ext cx="8306314" cy="1011507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Garamond" panose="02020404030301010803" pitchFamily="18" charset="0"/>
              </a:rPr>
              <a:t>RECOMMENDATION</a:t>
            </a:r>
            <a:endParaRPr lang="en-US" dirty="0"/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1963711" y="1635617"/>
            <a:ext cx="8558328" cy="377762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400" b="1" dirty="0" smtClean="0">
                <a:latin typeface="Garamond" panose="02020404030301010803" pitchFamily="18" charset="0"/>
              </a:rPr>
              <a:t>Based on the research, it is recommended that the UAV should be designed to have a landing gear in other to prevent it from belly landing and protect it's fuselage from substantial damage during landing.</a:t>
            </a:r>
            <a:endParaRPr lang="en-US" sz="2400" b="1" dirty="0">
              <a:latin typeface="Garamond" panose="02020404030301010803" pitchFamily="18" charset="0"/>
            </a:endParaRPr>
          </a:p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2053652" y="610132"/>
            <a:ext cx="8476521" cy="128089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2053652" y="1152907"/>
            <a:ext cx="8476521" cy="5300035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Abramowitz A, Smith TG, Vu T. (2009)Vertical drop test of a Shorts 3</a:t>
            </a:r>
            <a:r>
              <a:rPr lang="fr-FR" dirty="0"/>
              <a:t>30 airplane. National Technical Information Service (NTIS).</a:t>
            </a:r>
          </a:p>
          <a:p>
            <a:pPr marL="0" indent="0">
              <a:buNone/>
            </a:pPr>
            <a:r>
              <a:rPr lang="en-US" dirty="0" smtClean="0"/>
              <a:t>Andrew </a:t>
            </a:r>
            <a:r>
              <a:rPr lang="en-US" dirty="0"/>
              <a:t>J. Keane, Andras Sobester, James P. Scanlan (2017) </a:t>
            </a:r>
            <a:r>
              <a:rPr lang="en-US" i="1" dirty="0"/>
              <a:t>Small Unmanned Fixed-Wing Aircraft Design. A Practical Approach</a:t>
            </a:r>
            <a:r>
              <a:rPr lang="en-US" dirty="0"/>
              <a:t>, Wiley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Anderson</a:t>
            </a:r>
            <a:r>
              <a:rPr lang="en-US" dirty="0"/>
              <a:t>, J.D., Jr.,(1999) </a:t>
            </a:r>
            <a:r>
              <a:rPr lang="en-US" i="1" dirty="0"/>
              <a:t>Aircraft Performance and Design</a:t>
            </a:r>
            <a:r>
              <a:rPr lang="en-US" dirty="0"/>
              <a:t>; McGraw–Hill: New York, NY, </a:t>
            </a:r>
            <a:r>
              <a:rPr lang="en-US" dirty="0" smtClean="0"/>
              <a:t>USA.</a:t>
            </a:r>
          </a:p>
          <a:p>
            <a:pPr marL="0" indent="0">
              <a:buNone/>
            </a:pPr>
            <a:r>
              <a:rPr lang="en-US" dirty="0" smtClean="0"/>
              <a:t>Bakker</a:t>
            </a:r>
            <a:r>
              <a:rPr lang="en-US" dirty="0"/>
              <a:t>. A, (2015) Applied Computational Fluid Dynamics: </a:t>
            </a:r>
            <a:r>
              <a:rPr lang="en-US" dirty="0" smtClean="0"/>
              <a:t>Meshing.</a:t>
            </a:r>
          </a:p>
          <a:p>
            <a:pPr marL="0" indent="0">
              <a:buNone/>
            </a:pPr>
            <a:r>
              <a:rPr lang="en-US" dirty="0"/>
              <a:t>Mohammad, H.S.(2013) </a:t>
            </a:r>
            <a:r>
              <a:rPr lang="en-US" i="1" dirty="0"/>
              <a:t>Aircraft Design: A Systems Engineering Approach</a:t>
            </a:r>
            <a:r>
              <a:rPr lang="en-US" dirty="0"/>
              <a:t>; John Wiley &amp; Sons Ltd.: West Sussex, UK.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Reg </a:t>
            </a:r>
            <a:r>
              <a:rPr lang="en-US" dirty="0"/>
              <a:t>Austin </a:t>
            </a:r>
            <a:r>
              <a:rPr lang="en-US" dirty="0" smtClean="0"/>
              <a:t>(2010), </a:t>
            </a:r>
            <a:r>
              <a:rPr lang="en-US" dirty="0"/>
              <a:t>“Unmanned Aircraft Systems UAV design, development and deployment”, Wiley publishers. 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4866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Content Placeholder 2"/>
          <p:cNvSpPr>
            <a:spLocks noGrp="1"/>
          </p:cNvSpPr>
          <p:nvPr>
            <p:ph idx="1"/>
          </p:nvPr>
        </p:nvSpPr>
        <p:spPr>
          <a:xfrm>
            <a:off x="1419318" y="2023671"/>
            <a:ext cx="10123108" cy="29865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696</Words>
  <Application>Microsoft Office PowerPoint</Application>
  <PresentationFormat>Widescreen</PresentationFormat>
  <Paragraphs>135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SimSun</vt:lpstr>
      <vt:lpstr>Yu Gothic UI Semilight</vt:lpstr>
      <vt:lpstr>Arial</vt:lpstr>
      <vt:lpstr>Calibri</vt:lpstr>
      <vt:lpstr>Century Gothic</vt:lpstr>
      <vt:lpstr>Garamond</vt:lpstr>
      <vt:lpstr>Times New Roman</vt:lpstr>
      <vt:lpstr>Wingdings 3</vt:lpstr>
      <vt:lpstr>幼圆</vt:lpstr>
      <vt:lpstr>Wisp</vt:lpstr>
      <vt:lpstr>Document</vt:lpstr>
      <vt:lpstr>PROJECT DEFENSE ON DESIGN OPTIMIZATION OF MILITARY UNMANNED AERIAL VEHICLE RQ-20 PUMA TO  DEPARTMENT OF AERONAUTICAL &amp; ASTRONAUTICAL ENGINEERING FACULTY OF ENGINEERING AND TECHNOLOGY BY </vt:lpstr>
      <vt:lpstr>INTRODUCTION</vt:lpstr>
      <vt:lpstr>PROBLEM STATEMENT</vt:lpstr>
      <vt:lpstr>AIM AND OBJECTIVES</vt:lpstr>
      <vt:lpstr>SIGNIFICANCE OF PROJECT</vt:lpstr>
      <vt:lpstr>LITERATURE REVIEW</vt:lpstr>
      <vt:lpstr>METHODOLOGY</vt:lpstr>
      <vt:lpstr>        </vt:lpstr>
      <vt:lpstr>PowerPoint Presentation</vt:lpstr>
      <vt:lpstr>PowerPoint Presentation</vt:lpstr>
      <vt:lpstr>Figure A. Stress distribution on the present study</vt:lpstr>
      <vt:lpstr>RESULT</vt:lpstr>
      <vt:lpstr>CONCLUSION</vt:lpstr>
      <vt:lpstr>RECOMMENDATION</vt:lpstr>
      <vt:lpstr>REFERENCES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RQ-20 puma optimization</dc:title>
  <dc:creator>lum</dc:creator>
  <cp:lastModifiedBy>Microsoft account</cp:lastModifiedBy>
  <cp:revision>27</cp:revision>
  <dcterms:created xsi:type="dcterms:W3CDTF">2022-04-10T06:15:06Z</dcterms:created>
  <dcterms:modified xsi:type="dcterms:W3CDTF">2026-10-10T04:50:29Z</dcterms:modified>
</cp:coreProperties>
</file>